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815ce013934753" /><Relationship Type="http://schemas.openxmlformats.org/officeDocument/2006/relationships/extended-properties" Target="/docProps/app.xml" Id="Raba9daed438448f1" /><Relationship Type="http://schemas.openxmlformats.org/officeDocument/2006/relationships/officeDocument" Target="/ppt/presentation.xml" Id="R344fdde1a6c441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9d37e7920d445a"/>
  </p:sldMasterIdLst>
  <p:notesMasterIdLst>
    <p:notesMasterId xmlns:r="http://schemas.openxmlformats.org/officeDocument/2006/relationships" r:id="R061d3387556c46ac"/>
  </p:notesMasterIdLst>
  <p:sldIdLst>
    <p:sldId xmlns:r="http://schemas.openxmlformats.org/officeDocument/2006/relationships" id="256" r:id="R3fca3c6430b2479d"/>
    <p:sldId xmlns:r="http://schemas.openxmlformats.org/officeDocument/2006/relationships" id="257" r:id="R445cf6f8e6f5491e"/>
    <p:sldId xmlns:r="http://schemas.openxmlformats.org/officeDocument/2006/relationships" id="258" r:id="Ra4ff0ae1e8624d76"/>
    <p:sldId xmlns:r="http://schemas.openxmlformats.org/officeDocument/2006/relationships" id="259" r:id="R3e3cc12be75348a1"/>
    <p:sldId xmlns:r="http://schemas.openxmlformats.org/officeDocument/2006/relationships" id="260" r:id="Rf132c66cfc1a4c77"/>
    <p:sldId xmlns:r="http://schemas.openxmlformats.org/officeDocument/2006/relationships" id="261" r:id="R62c5200e75994ec8"/>
    <p:sldId xmlns:r="http://schemas.openxmlformats.org/officeDocument/2006/relationships" id="262" r:id="R47ded212ff8a45de"/>
    <p:sldId xmlns:r="http://schemas.openxmlformats.org/officeDocument/2006/relationships" id="263" r:id="R4d7560fd9f2a4772"/>
    <p:sldId xmlns:r="http://schemas.openxmlformats.org/officeDocument/2006/relationships" id="264" r:id="Ra713e18ab7954b79"/>
    <p:sldId xmlns:r="http://schemas.openxmlformats.org/officeDocument/2006/relationships" id="265" r:id="R5c995ef809164e2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d37e7920d445a" /><Relationship Type="http://schemas.openxmlformats.org/officeDocument/2006/relationships/theme" Target="/ppt/theme/theme1.xml" Id="Rf8cdf872b0474988" /><Relationship Type="http://schemas.openxmlformats.org/officeDocument/2006/relationships/notesMaster" Target="/ppt/notesMasters/notesMaster1.xml" Id="R061d3387556c46ac" /><Relationship Type="http://schemas.openxmlformats.org/officeDocument/2006/relationships/presProps" Target="/ppt/presProps.xml" Id="R79a00bbe495c4ba6" /><Relationship Type="http://schemas.openxmlformats.org/officeDocument/2006/relationships/viewProps" Target="/ppt/viewProps.xml" Id="Rb226104613b74987" /><Relationship Type="http://schemas.openxmlformats.org/officeDocument/2006/relationships/tableStyles" Target="/ppt/tableStyles.xml" Id="Rc1ee56b8634149c2" /><Relationship Type="http://schemas.openxmlformats.org/officeDocument/2006/relationships/slide" Target="/ppt/slides/slide1.xml" Id="R3fca3c6430b2479d" /><Relationship Type="http://schemas.openxmlformats.org/officeDocument/2006/relationships/slide" Target="/ppt/slides/slide2.xml" Id="R445cf6f8e6f5491e" /><Relationship Type="http://schemas.openxmlformats.org/officeDocument/2006/relationships/slide" Target="/ppt/slides/slide3.xml" Id="Ra4ff0ae1e8624d76" /><Relationship Type="http://schemas.openxmlformats.org/officeDocument/2006/relationships/slide" Target="/ppt/slides/slide4.xml" Id="R3e3cc12be75348a1" /><Relationship Type="http://schemas.openxmlformats.org/officeDocument/2006/relationships/slide" Target="/ppt/slides/slide5.xml" Id="Rf132c66cfc1a4c77" /><Relationship Type="http://schemas.openxmlformats.org/officeDocument/2006/relationships/slide" Target="/ppt/slides/slide6.xml" Id="R62c5200e75994ec8" /><Relationship Type="http://schemas.openxmlformats.org/officeDocument/2006/relationships/slide" Target="/ppt/slides/slide7.xml" Id="R47ded212ff8a45de" /><Relationship Type="http://schemas.openxmlformats.org/officeDocument/2006/relationships/slide" Target="/ppt/slides/slide8.xml" Id="R4d7560fd9f2a4772" /><Relationship Type="http://schemas.openxmlformats.org/officeDocument/2006/relationships/slide" Target="/ppt/slides/slide9.xml" Id="Ra713e18ab7954b79" /><Relationship Type="http://schemas.openxmlformats.org/officeDocument/2006/relationships/slide" Target="/ppt/slides/slide10.xml" Id="R5c995ef809164e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68a0803a4da41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76e8f8ff404b98" /><Relationship Type="http://schemas.openxmlformats.org/officeDocument/2006/relationships/notesMaster" Target="/ppt/notesMasters/notesMaster1.xml" Id="Rcd0dacbd395846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d737a7cc1d48cd" /><Relationship Type="http://schemas.openxmlformats.org/officeDocument/2006/relationships/notesMaster" Target="/ppt/notesMasters/notesMaster1.xml" Id="R8d390285c50543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f46526b50146eb" /><Relationship Type="http://schemas.openxmlformats.org/officeDocument/2006/relationships/notesMaster" Target="/ppt/notesMasters/notesMaster1.xml" Id="R78d096a0156542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88501cd48b400d" /><Relationship Type="http://schemas.openxmlformats.org/officeDocument/2006/relationships/notesMaster" Target="/ppt/notesMasters/notesMaster1.xml" Id="Rb3e83724ba3243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a4dd34e45144b0" /><Relationship Type="http://schemas.openxmlformats.org/officeDocument/2006/relationships/notesMaster" Target="/ppt/notesMasters/notesMaster1.xml" Id="Re6fb1a11548c40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28da6f1e654112" /><Relationship Type="http://schemas.openxmlformats.org/officeDocument/2006/relationships/notesMaster" Target="/ppt/notesMasters/notesMaster1.xml" Id="R4e68013104ac4d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67706f8e454b60" /><Relationship Type="http://schemas.openxmlformats.org/officeDocument/2006/relationships/notesMaster" Target="/ppt/notesMasters/notesMaster1.xml" Id="Rf3dd1a20b1a44e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404047222844fb" /><Relationship Type="http://schemas.openxmlformats.org/officeDocument/2006/relationships/notesMaster" Target="/ppt/notesMasters/notesMaster1.xml" Id="Rd08bcc0afdb048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0699145ded48b7" /><Relationship Type="http://schemas.openxmlformats.org/officeDocument/2006/relationships/notesMaster" Target="/ppt/notesMasters/notesMaster1.xml" Id="Ra5bfa4cb1cd649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d768f3c03b47ec" /><Relationship Type="http://schemas.openxmlformats.org/officeDocument/2006/relationships/notesMaster" Target="/ppt/notesMasters/notesMaster1.xml" Id="Re2466885d3c343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d255b09474b8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91ab2da1fd446df" /><Relationship Type="http://schemas.openxmlformats.org/officeDocument/2006/relationships/slideLayout" Target="/ppt/slideLayouts/slideLayout2.xml" Id="Rf5a8f6c325c244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a8f6c325c244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79f72cfe3545b2" /><Relationship Type="http://schemas.openxmlformats.org/officeDocument/2006/relationships/notesSlide" Target="/ppt/notesSlides/notesSlide1.xml" Id="R7bbc9924f9b447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6523b8d813439c" /><Relationship Type="http://schemas.openxmlformats.org/officeDocument/2006/relationships/notesSlide" Target="/ppt/notesSlides/notesSlide2.xml" Id="Ra2f7cffd48364d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97910262e54dc8" /><Relationship Type="http://schemas.openxmlformats.org/officeDocument/2006/relationships/notesSlide" Target="/ppt/notesSlides/notesSlide3.xml" Id="R6d7257c731a746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ad6355cb4f4d21" /><Relationship Type="http://schemas.openxmlformats.org/officeDocument/2006/relationships/notesSlide" Target="/ppt/notesSlides/notesSlide4.xml" Id="Rbc091aaee5104e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4e2e8149344cd7" /><Relationship Type="http://schemas.openxmlformats.org/officeDocument/2006/relationships/notesSlide" Target="/ppt/notesSlides/notesSlide5.xml" Id="Rc082d9dbddde41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202b38c3b2425f" /><Relationship Type="http://schemas.openxmlformats.org/officeDocument/2006/relationships/notesSlide" Target="/ppt/notesSlides/notesSlide6.xml" Id="Rcb4e06832a9944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c9efc604ea46e5" /><Relationship Type="http://schemas.openxmlformats.org/officeDocument/2006/relationships/notesSlide" Target="/ppt/notesSlides/notesSlide7.xml" Id="R5a06265a22b04d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3b2997e5d6426f" /><Relationship Type="http://schemas.openxmlformats.org/officeDocument/2006/relationships/chart" Target="/ppt/slides/charts/chart1.xml" Id="R912e28cc333541de" /><Relationship Type="http://schemas.openxmlformats.org/officeDocument/2006/relationships/notesSlide" Target="/ppt/notesSlides/notesSlide8.xml" Id="R9f60e8fa954d41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672b96e174642" /><Relationship Type="http://schemas.openxmlformats.org/officeDocument/2006/relationships/notesSlide" Target="/ppt/notesSlides/notesSlide9.xml" Id="R121487fd6a3c4b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04939066b54c32" /><Relationship Type="http://schemas.openxmlformats.org/officeDocument/2006/relationships/notesSlide" Target="/ppt/notesSlides/notesSlide10.xml" Id="R138124310db046a0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Points</c:v>
          </c:tx>
          <c:cat>
            <c:strLit>
              <c:ptCount val="8"/>
              <c:pt idx="0">
                <c:v>East-Central Monsoon</c:v>
              </c:pt>
              <c:pt idx="1">
                <c:v>Upper Himalayan</c:v>
              </c:pt>
              <c:pt idx="2">
                <c:v>Northwest Dry Plains</c:v>
              </c:pt>
              <c:pt idx="3">
                <c:v>Northeast Humid Belt</c:v>
              </c:pt>
              <c:pt idx="4">
                <c:v>Central Inland Plateau</c:v>
              </c:pt>
              <c:pt idx="5">
                <c:v>Gangetic Plains</c:v>
              </c:pt>
              <c:pt idx="6">
                <c:v>Southern Peninsular</c:v>
              </c:pt>
              <c:pt idx="7">
                <c:v>Western Himalayan</c:v>
              </c:pt>
            </c:strLit>
          </c:cat>
          <c:val>
            <c:numLit>
              <c:formatCode/>
              <c:ptCount val="8"/>
              <c:pt idx="0">
                <c:v>135</c:v>
              </c:pt>
              <c:pt idx="1">
                <c:v>49</c:v>
              </c:pt>
              <c:pt idx="2">
                <c:v>139</c:v>
              </c:pt>
              <c:pt idx="3">
                <c:v>89</c:v>
              </c:pt>
              <c:pt idx="4">
                <c:v>231</c:v>
              </c:pt>
              <c:pt idx="5">
                <c:v>222</c:v>
              </c:pt>
              <c:pt idx="6">
                <c:v>200</c:v>
              </c:pt>
              <c:pt idx="7">
                <c:v>88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98A8483-31D3-41AD-8D27-4F9D459A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2828"/>
                </a:solidFill>
              </a:defRPr>
            </a:pPr>
            <a:r>
              <a:rPr sz="1650" b="1">
                <a:solidFill>
                  <a:srgbClr val="D62828"/>
                </a:solidFill>
              </a:rPr>
              <a:t>Climate Regionalization of India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0510C97-BE8F-40DE-AF9E-8C09C33B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95400"/>
            <a:ext cx="103251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6213E"/>
                </a:solidFill>
              </a:defRPr>
            </a:pPr>
            <a:r>
              <a:rPr sz="5100" b="1">
                <a:solidFill>
                  <a:srgbClr val="16213E"/>
                </a:solidFill>
              </a:rPr>
              <a:t>Using NASA POWER and Unsupervised Machine Learning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3BB6DA1-CF80-41E3-8D62-C4082A9D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1582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B6475"/>
                </a:solidFill>
              </a:defRPr>
            </a:pPr>
            <a:r>
              <a:rPr sz="2250">
                <a:solidFill>
                  <a:srgbClr val="5B6475"/>
                </a:solidFill>
              </a:rPr>
              <a:t>A data-driven framework to identify climate regions across India, explain their climatic behavior, and predict the regional class of any queried place.</a:t>
            </a:r>
          </a:p>
        </p:txBody>
      </p:sp>
      <p:sp>
        <p:nvSpPr>
          <p:cNvPr id="4" name="points-number">
            <a:extLst xmlns:a="http://schemas.openxmlformats.org/drawingml/2006/main">
              <a:ext uri="{FF2B5EF4-FFF2-40B4-BE49-F238E27FC236}">
                <a16:creationId xmlns:a16="http://schemas.microsoft.com/office/drawing/2014/main" id="{E30B9AFF-CF5D-4303-83A5-858D4F45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5314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F6E8C"/>
                </a:solidFill>
              </a:defRPr>
            </a:pPr>
            <a:r>
              <a:rPr sz="3900" b="1">
                <a:solidFill>
                  <a:srgbClr val="1F6E8C"/>
                </a:solidFill>
              </a:rPr>
              <a:t>1153</a:t>
            </a:r>
          </a:p>
        </p:txBody>
      </p:sp>
      <p:sp>
        <p:nvSpPr>
          <p:cNvPr id="5" name="points-label">
            <a:extLst xmlns:a="http://schemas.openxmlformats.org/drawingml/2006/main">
              <a:ext uri="{FF2B5EF4-FFF2-40B4-BE49-F238E27FC236}">
                <a16:creationId xmlns:a16="http://schemas.microsoft.com/office/drawing/2014/main" id="{55744EAC-75F2-48DD-8CC8-4B3705E1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5"/>
                </a:solidFill>
              </a:defRPr>
            </a:pPr>
            <a:r>
              <a:rPr sz="1650">
                <a:solidFill>
                  <a:srgbClr val="5B6475"/>
                </a:solidFill>
              </a:rPr>
              <a:t>Land-valid climate sample points</a:t>
            </a:r>
          </a:p>
        </p:txBody>
      </p:sp>
      <p:sp>
        <p:nvSpPr>
          <p:cNvPr id="6" name="period-number">
            <a:extLst xmlns:a="http://schemas.openxmlformats.org/drawingml/2006/main">
              <a:ext uri="{FF2B5EF4-FFF2-40B4-BE49-F238E27FC236}">
                <a16:creationId xmlns:a16="http://schemas.microsoft.com/office/drawing/2014/main" id="{2EE31CC2-9537-47D4-B6F7-924F41B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5314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F6E8C"/>
                </a:solidFill>
              </a:defRPr>
            </a:pPr>
            <a:r>
              <a:rPr sz="3900" b="1">
                <a:solidFill>
                  <a:srgbClr val="1F6E8C"/>
                </a:solidFill>
              </a:rPr>
              <a:t>2000–2024</a:t>
            </a:r>
          </a:p>
        </p:txBody>
      </p:sp>
      <p:sp>
        <p:nvSpPr>
          <p:cNvPr id="7" name="period-label">
            <a:extLst xmlns:a="http://schemas.openxmlformats.org/drawingml/2006/main">
              <a:ext uri="{FF2B5EF4-FFF2-40B4-BE49-F238E27FC236}">
                <a16:creationId xmlns:a16="http://schemas.microsoft.com/office/drawing/2014/main" id="{FF7A1F8A-9039-4AE9-B6FA-994482E4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3409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5"/>
                </a:solidFill>
              </a:defRPr>
            </a:pPr>
            <a:r>
              <a:rPr sz="1650">
                <a:solidFill>
                  <a:srgbClr val="5B6475"/>
                </a:solidFill>
              </a:rPr>
              <a:t>Daily NASA POWER observation window</a:t>
            </a:r>
          </a:p>
        </p:txBody>
      </p:sp>
      <p:sp>
        <p:nvSpPr>
          <p:cNvPr id="8" name="regions-number">
            <a:extLst xmlns:a="http://schemas.openxmlformats.org/drawingml/2006/main">
              <a:ext uri="{FF2B5EF4-FFF2-40B4-BE49-F238E27FC236}">
                <a16:creationId xmlns:a16="http://schemas.microsoft.com/office/drawing/2014/main" id="{606A9E2D-E427-4A26-A80E-AA25CA87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038600"/>
            <a:ext cx="5314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F6E8C"/>
                </a:solidFill>
              </a:defRPr>
            </a:pPr>
            <a:r>
              <a:rPr sz="3900" b="1">
                <a:solidFill>
                  <a:srgbClr val="1F6E8C"/>
                </a:solidFill>
              </a:rPr>
              <a:t>8</a:t>
            </a:r>
          </a:p>
        </p:txBody>
      </p:sp>
      <p:sp>
        <p:nvSpPr>
          <p:cNvPr id="9" name="regions-label">
            <a:extLst xmlns:a="http://schemas.openxmlformats.org/drawingml/2006/main">
              <a:ext uri="{FF2B5EF4-FFF2-40B4-BE49-F238E27FC236}">
                <a16:creationId xmlns:a16="http://schemas.microsoft.com/office/drawing/2014/main" id="{7CED9FDF-60FB-489E-AA28-76580031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705350"/>
            <a:ext cx="3028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5"/>
                </a:solidFill>
              </a:defRPr>
            </a:pPr>
            <a:r>
              <a:rPr sz="1650">
                <a:solidFill>
                  <a:srgbClr val="5B6475"/>
                </a:solidFill>
              </a:rPr>
              <a:t>Final climate regions in the selected production model</a:t>
            </a:r>
          </a:p>
        </p:txBody>
      </p:sp>
      <p:sp>
        <p:nvSpPr>
          <p:cNvPr id="10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23FEDCB-F8CF-47C2-B342-51034EE0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5"/>
                </a:solidFill>
              </a:defRPr>
            </a:pPr>
            <a:r>
              <a:rPr sz="1350">
                <a:solidFill>
                  <a:srgbClr val="5B6475"/>
                </a:solidFill>
              </a:rPr>
              <a:t>Prepared for project presentation | May 2026</a:t>
            </a:r>
          </a:p>
        </p:txBody>
      </p:sp>
    </p:spTree>
    <p:extLst>
      <p:ext uri="{BB962C8B-B14F-4D97-AF65-F5344CB8AC3E}">
        <p14:creationId xmlns:p14="http://schemas.microsoft.com/office/powerpoint/2010/main" val="18986044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B9703CA2-6FBD-4EFE-B139-5E309EA5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2828"/>
                </a:solidFill>
              </a:defRPr>
            </a:pPr>
            <a:r>
              <a:rPr sz="1350" b="1">
                <a:solidFill>
                  <a:srgbClr val="D62828"/>
                </a:solidFill>
              </a:rPr>
              <a:t>Problem and Motivation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15F8FD-BFC3-4FCF-992D-887DFC57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5715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213E"/>
                </a:solidFill>
              </a:defRPr>
            </a:pPr>
            <a:r>
              <a:rPr sz="3750" b="1">
                <a:solidFill>
                  <a:srgbClr val="16213E"/>
                </a:solidFill>
              </a:rPr>
              <a:t>Why this project was needed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1E159BD-4C2C-4B4D-97C9-D5EC1E2C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B83541FF-7D9B-4A2D-AF73-07F3C548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8515350" cy="687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India contains highly diverse climates: arid west, humid northeast, cold high mountains, monsoon plains, inland plateau, and coastal south.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Traditional climate classifications are useful, but they are rule-based and do not automatically adapt to the full multidimensional structure of the observed data.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A national-scale, data-driven regionalization can reveal how climatic similarity is distributed continuously across India.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The project was also designed to connect climate regions with agriculture, energy, disaster risk, and urban planning use cases.</a:t>
            </a:r>
          </a:p>
        </p:txBody>
      </p:sp>
      <p:sp>
        <p:nvSpPr>
          <p:cNvPr id="5" name="aim-label">
            <a:extLst xmlns:a="http://schemas.openxmlformats.org/drawingml/2006/main">
              <a:ext uri="{FF2B5EF4-FFF2-40B4-BE49-F238E27FC236}">
                <a16:creationId xmlns:a16="http://schemas.microsoft.com/office/drawing/2014/main" id="{5211F05C-23E7-4ACD-861F-99CD7302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43200"/>
            <a:ext cx="771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E8C"/>
                </a:solidFill>
              </a:defRPr>
            </a:pPr>
            <a:r>
              <a:rPr sz="1800" b="1">
                <a:solidFill>
                  <a:srgbClr val="1F6E8C"/>
                </a:solidFill>
              </a:rPr>
              <a:t>Core Aim</a:t>
            </a:r>
          </a:p>
        </p:txBody>
      </p:sp>
      <p:sp>
        <p:nvSpPr>
          <p:cNvPr id="6" name="aim-text">
            <a:extLst xmlns:a="http://schemas.openxmlformats.org/drawingml/2006/main">
              <a:ext uri="{FF2B5EF4-FFF2-40B4-BE49-F238E27FC236}">
                <a16:creationId xmlns:a16="http://schemas.microsoft.com/office/drawing/2014/main" id="{C661BF0B-660D-40ED-9F3F-62C20FB5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38500"/>
            <a:ext cx="52006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13E"/>
                </a:solidFill>
              </a:defRPr>
            </a:pPr>
            <a:r>
              <a:rPr sz="2100">
                <a:solidFill>
                  <a:srgbClr val="16213E"/>
                </a:solidFill>
              </a:rPr>
              <a:t>Discover meaningful climate regions directly from long-term weather observations instead of predefining them manually.</a:t>
            </a:r>
          </a:p>
        </p:txBody>
      </p:sp>
      <p:sp>
        <p:nvSpPr>
          <p:cNvPr id="7" name="value-label">
            <a:extLst xmlns:a="http://schemas.openxmlformats.org/drawingml/2006/main">
              <a:ext uri="{FF2B5EF4-FFF2-40B4-BE49-F238E27FC236}">
                <a16:creationId xmlns:a16="http://schemas.microsoft.com/office/drawing/2014/main" id="{640DD692-ECCC-4659-9090-C9984439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38650"/>
            <a:ext cx="771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6E8C"/>
                </a:solidFill>
              </a:defRPr>
            </a:pPr>
            <a:r>
              <a:rPr sz="1800" b="1">
                <a:solidFill>
                  <a:srgbClr val="1F6E8C"/>
                </a:solidFill>
              </a:rPr>
              <a:t>Practical Value</a:t>
            </a:r>
          </a:p>
        </p:txBody>
      </p:sp>
      <p:sp>
        <p:nvSpPr>
          <p:cNvPr id="8" name="value-text">
            <a:extLst xmlns:a="http://schemas.openxmlformats.org/drawingml/2006/main">
              <a:ext uri="{FF2B5EF4-FFF2-40B4-BE49-F238E27FC236}">
                <a16:creationId xmlns:a16="http://schemas.microsoft.com/office/drawing/2014/main" id="{3E31D0A8-F15D-4CB6-8BBC-659BE719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33950"/>
            <a:ext cx="52959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13E"/>
                </a:solidFill>
              </a:defRPr>
            </a:pPr>
            <a:r>
              <a:rPr sz="2100">
                <a:solidFill>
                  <a:srgbClr val="16213E"/>
                </a:solidFill>
              </a:rPr>
              <a:t>Support evidence-based planning for crops, renewable energy, hazard exposure, and regional environmental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8110698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84288581-1FD1-4910-B701-FE77C3CA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2828"/>
                </a:solidFill>
              </a:defRPr>
            </a:pPr>
            <a:r>
              <a:rPr sz="1350" b="1">
                <a:solidFill>
                  <a:srgbClr val="D62828"/>
                </a:solidFill>
              </a:rPr>
              <a:t>Data Collection and Study Area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89F140-D073-4F29-816B-C7512A79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8934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213E"/>
                </a:solidFill>
              </a:defRPr>
            </a:pPr>
            <a:r>
              <a:rPr sz="3750" b="1">
                <a:solidFill>
                  <a:srgbClr val="16213E"/>
                </a:solidFill>
              </a:rPr>
              <a:t>How the India-wide climate dataset was built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E5B9FF9-5C3D-4306-B3C1-46BAC47D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4" name="setup-head">
            <a:extLst xmlns:a="http://schemas.openxmlformats.org/drawingml/2006/main">
              <a:ext uri="{FF2B5EF4-FFF2-40B4-BE49-F238E27FC236}">
                <a16:creationId xmlns:a16="http://schemas.microsoft.com/office/drawing/2014/main" id="{9A60439F-531C-433C-ACA5-1A0CEB74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Study-area setup</a:t>
            </a:r>
          </a:p>
        </p:txBody>
      </p:sp>
      <p:sp>
        <p:nvSpPr>
          <p:cNvPr id="5" name="setup-bullets">
            <a:extLst xmlns:a="http://schemas.openxmlformats.org/drawingml/2006/main">
              <a:ext uri="{FF2B5EF4-FFF2-40B4-BE49-F238E27FC236}">
                <a16:creationId xmlns:a16="http://schemas.microsoft.com/office/drawing/2014/main" id="{3B58A75D-FB5D-476C-8524-E7E03422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8096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Bounding grid over India: latitude 8.0° to 37.0° and longitude 68.0° to 97.5°.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Grid spacing of 0.5° produced 3540 raw sample points.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Land masking removed ocean and invalid border spillover points.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The final land-valid analysis set contained 1153 climate sample locations.</a:t>
            </a:r>
          </a:p>
        </p:txBody>
      </p:sp>
      <p:sp>
        <p:nvSpPr>
          <p:cNvPr id="6" name="vars-head">
            <a:extLst xmlns:a="http://schemas.openxmlformats.org/drawingml/2006/main">
              <a:ext uri="{FF2B5EF4-FFF2-40B4-BE49-F238E27FC236}">
                <a16:creationId xmlns:a16="http://schemas.microsoft.com/office/drawing/2014/main" id="{6D32333E-4A40-48D8-BAFC-35C5E1D5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NASA POWER variables collected</a:t>
            </a:r>
          </a:p>
        </p:txBody>
      </p:sp>
      <p:sp>
        <p:nvSpPr>
          <p:cNvPr id="7" name="vars-text">
            <a:extLst xmlns:a="http://schemas.openxmlformats.org/drawingml/2006/main">
              <a:ext uri="{FF2B5EF4-FFF2-40B4-BE49-F238E27FC236}">
                <a16:creationId xmlns:a16="http://schemas.microsoft.com/office/drawing/2014/main" id="{103DACE1-67D0-43F9-A80D-AF529058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95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213E"/>
                </a:solidFill>
              </a:defRPr>
            </a:pPr>
            <a:r>
              <a:rPr sz="1650">
                <a:solidFill>
                  <a:srgbClr val="16213E"/>
                </a:solidFill>
              </a:rPr>
              <a:t>Solar irradiance, clearness index, longwave radiation, UV index, temperature, dew point, earth skin temperature, relative humidity, specific humidity, precipitation, wind speed, wind direction, surface pressure, and cloud amount.</a:t>
            </a:r>
          </a:p>
        </p:txBody>
      </p:sp>
      <p:sp>
        <p:nvSpPr>
          <p:cNvPr id="8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E8619723-67D1-4753-9212-4E62FC01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0510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Collection outcome</a:t>
            </a:r>
          </a:p>
        </p:txBody>
      </p:sp>
      <p:sp>
        <p:nvSpPr>
          <p:cNvPr id="9" name="outcome-bullets">
            <a:extLst xmlns:a="http://schemas.openxmlformats.org/drawingml/2006/main">
              <a:ext uri="{FF2B5EF4-FFF2-40B4-BE49-F238E27FC236}">
                <a16:creationId xmlns:a16="http://schemas.microsoft.com/office/drawing/2014/main" id="{37EFD915-560B-4202-BA1C-D5098021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00400"/>
            <a:ext cx="80962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Daily NASA POWER weather data collected from 2000-01-01 to 2024-12-31.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Point-level files combined into one national interim dataset.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Basic validation checked missingness, date continuity, physical ranges, and expected point coverage.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This validated daily dataset became the single input source for all downstream preprocessing and clustering stages.</a:t>
            </a:r>
          </a:p>
        </p:txBody>
      </p:sp>
      <p:sp>
        <p:nvSpPr>
          <p:cNvPr id="10" name="pipeline-head">
            <a:extLst xmlns:a="http://schemas.openxmlformats.org/drawingml/2006/main">
              <a:ext uri="{FF2B5EF4-FFF2-40B4-BE49-F238E27FC236}">
                <a16:creationId xmlns:a16="http://schemas.microsoft.com/office/drawing/2014/main" id="{7136BD07-6C78-479F-9982-E94BA693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6730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Collection pipeline</a:t>
            </a:r>
          </a:p>
        </p:txBody>
      </p:sp>
      <p:sp>
        <p:nvSpPr>
          <p:cNvPr id="11" name="pipeline-text">
            <a:extLst xmlns:a="http://schemas.openxmlformats.org/drawingml/2006/main">
              <a:ext uri="{FF2B5EF4-FFF2-40B4-BE49-F238E27FC236}">
                <a16:creationId xmlns:a16="http://schemas.microsoft.com/office/drawing/2014/main" id="{46FE7E2C-5AF5-47C3-89DD-C2C463D1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62600"/>
            <a:ext cx="6743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Grid generation → land masking → NASA POWER fetch → combine point files → validation</a:t>
            </a:r>
          </a:p>
        </p:txBody>
      </p:sp>
    </p:spTree>
    <p:extLst>
      <p:ext uri="{BB962C8B-B14F-4D97-AF65-F5344CB8AC3E}">
        <p14:creationId xmlns:p14="http://schemas.microsoft.com/office/powerpoint/2010/main" val="6711056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2179865C-39F3-412B-8F5A-DCAC7084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2828"/>
                </a:solidFill>
              </a:defRPr>
            </a:pPr>
            <a:r>
              <a:rPr sz="1350" b="1">
                <a:solidFill>
                  <a:srgbClr val="D62828"/>
                </a:solidFill>
              </a:rPr>
              <a:t>Data Normalization and Cleaning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F502CF-6A84-48C2-97AD-FE435E8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2039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213E"/>
                </a:solidFill>
              </a:defRPr>
            </a:pPr>
            <a:r>
              <a:rPr sz="3750" b="1">
                <a:solidFill>
                  <a:srgbClr val="16213E"/>
                </a:solidFill>
              </a:rPr>
              <a:t>Turning raw NASA POWER values into a reliable climate table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818B5FE-A973-46FB-AE99-7D537F62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4" name="norm-head">
            <a:extLst xmlns:a="http://schemas.openxmlformats.org/drawingml/2006/main">
              <a:ext uri="{FF2B5EF4-FFF2-40B4-BE49-F238E27FC236}">
                <a16:creationId xmlns:a16="http://schemas.microsoft.com/office/drawing/2014/main" id="{6981A6D7-38BD-4DAA-A2FA-EC5DC99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Normalization</a:t>
            </a:r>
          </a:p>
        </p:txBody>
      </p:sp>
      <p:sp>
        <p:nvSpPr>
          <p:cNvPr id="5" name="norm-bullets">
            <a:extLst xmlns:a="http://schemas.openxmlformats.org/drawingml/2006/main">
              <a:ext uri="{FF2B5EF4-FFF2-40B4-BE49-F238E27FC236}">
                <a16:creationId xmlns:a16="http://schemas.microsoft.com/office/drawing/2014/main" id="{E959C613-BD50-45F9-ABA0-25B8683B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80962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Raw NASA parameter names were converted into project-specific clean names.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Generic aliases such as temperature_2m_mean, precipitation_sum, cloud_cover_mean, and wind_speed_10m_mean were created for downstream compatibility.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Daily NASA fields were aligned with the broader project schema so later steps could reuse a common climate-processing design.</a:t>
            </a:r>
          </a:p>
        </p:txBody>
      </p:sp>
      <p:sp>
        <p:nvSpPr>
          <p:cNvPr id="6" name="clean-head">
            <a:extLst xmlns:a="http://schemas.openxmlformats.org/drawingml/2006/main">
              <a:ext uri="{FF2B5EF4-FFF2-40B4-BE49-F238E27FC236}">
                <a16:creationId xmlns:a16="http://schemas.microsoft.com/office/drawing/2014/main" id="{68EB7D0E-C09A-472A-B2C7-C7A13229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Cleaning</a:t>
            </a:r>
          </a:p>
        </p:txBody>
      </p:sp>
      <p:sp>
        <p:nvSpPr>
          <p:cNvPr id="7" name="clean-bullets">
            <a:extLst xmlns:a="http://schemas.openxmlformats.org/drawingml/2006/main">
              <a:ext uri="{FF2B5EF4-FFF2-40B4-BE49-F238E27FC236}">
                <a16:creationId xmlns:a16="http://schemas.microsoft.com/office/drawing/2014/main" id="{20413DC3-DD09-4A96-B9CB-3013DB61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8096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Duplicate rows removed using latitude, longitude, and date.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High-null columns dropped if missingness exceeded the configured threshold.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Remaining gaps filled using interpolation, monthly location medians, and then global medians.</a:t>
            </a:r>
          </a:p>
        </p:txBody>
      </p:sp>
      <p:sp>
        <p:nvSpPr>
          <p:cNvPr id="8" name="reliability-head">
            <a:extLst xmlns:a="http://schemas.openxmlformats.org/drawingml/2006/main">
              <a:ext uri="{FF2B5EF4-FFF2-40B4-BE49-F238E27FC236}">
                <a16:creationId xmlns:a16="http://schemas.microsoft.com/office/drawing/2014/main" id="{D379FF6F-B6DF-4BF5-8AB7-A8E29859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Reliability controls</a:t>
            </a:r>
          </a:p>
        </p:txBody>
      </p:sp>
      <p:sp>
        <p:nvSpPr>
          <p:cNvPr id="9" name="reliability-bullets">
            <a:extLst xmlns:a="http://schemas.openxmlformats.org/drawingml/2006/main">
              <a:ext uri="{FF2B5EF4-FFF2-40B4-BE49-F238E27FC236}">
                <a16:creationId xmlns:a16="http://schemas.microsoft.com/office/drawing/2014/main" id="{ECBDDF64-5B46-4D8D-9D59-17708695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52700"/>
            <a:ext cx="80962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Outliers capped using the IQR method with a factor of 3.0.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Physical range limits enforced for temperature, humidity, rainfall, pressure, cloud cover, wind, and solar-related fields.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The aim was not to remove climate variability, but to remove invalid or unrealistic values before feature generation.</a:t>
            </a:r>
          </a:p>
        </p:txBody>
      </p:sp>
      <p:sp>
        <p:nvSpPr>
          <p:cNvPr id="10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D9E52F5C-C8EB-46AE-9598-FC0EA994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7670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Outcome</a:t>
            </a:r>
          </a:p>
        </p:txBody>
      </p:sp>
      <p:sp>
        <p:nvSpPr>
          <p:cNvPr id="11" name="outcome-text">
            <a:extLst xmlns:a="http://schemas.openxmlformats.org/drawingml/2006/main">
              <a:ext uri="{FF2B5EF4-FFF2-40B4-BE49-F238E27FC236}">
                <a16:creationId xmlns:a16="http://schemas.microsoft.com/office/drawing/2014/main" id="{B59098E6-DC9D-431D-893C-5EFD2305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33900"/>
            <a:ext cx="62484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6213E"/>
                </a:solidFill>
              </a:defRPr>
            </a:pPr>
            <a:r>
              <a:rPr sz="1950">
                <a:solidFill>
                  <a:srgbClr val="16213E"/>
                </a:solidFill>
              </a:rPr>
              <a:t>A cleaned daily national weather table ready for feature engineering, temporal aggregation, and climate-scale analysis.</a:t>
            </a:r>
          </a:p>
        </p:txBody>
      </p:sp>
    </p:spTree>
    <p:extLst>
      <p:ext uri="{BB962C8B-B14F-4D97-AF65-F5344CB8AC3E}">
        <p14:creationId xmlns:p14="http://schemas.microsoft.com/office/powerpoint/2010/main" val="18380434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880C713D-34F3-452A-9409-9B9B2C2C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2828"/>
                </a:solidFill>
              </a:defRPr>
            </a:pPr>
            <a:r>
              <a:rPr sz="1350" b="1">
                <a:solidFill>
                  <a:srgbClr val="D62828"/>
                </a:solidFill>
              </a:rPr>
              <a:t>Feature Engineering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91E2E1-C832-40A6-9DC9-4BDAC1BC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287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213E"/>
                </a:solidFill>
              </a:defRPr>
            </a:pPr>
            <a:r>
              <a:rPr sz="3750" b="1">
                <a:solidFill>
                  <a:srgbClr val="16213E"/>
                </a:solidFill>
              </a:rPr>
              <a:t>Converting weather variables into climate indicators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01B67FA-33E9-49C8-9CC5-1D33A240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F1822E58-0354-4AA5-BA85-261DD233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8115300" cy="693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Core derived features: daily temperature range, humidity range, cloud stratification, sunshine fraction, and precipitation intensity.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Wind extrapolation: wind speeds were projected from 10 m to 80 m, 120 m, and 180 m, followed by wind shear estimation.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Energy features: wind power density at multiple hub heights, solar utilization ratio, and solar-wind complementarity.</a:t>
            </a:r>
          </a:p>
        </p:txBody>
      </p:sp>
      <p:sp>
        <p:nvSpPr>
          <p:cNvPr id="5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1D73A998-8C0C-4E28-949E-494BBE3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8115300" cy="693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Agriculture features: growing degree days, frost risk, heat stress, soil temperature proxy, and soil-air temperature difference.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Disaster features: heavy rain flag, extreme rain flag, flood-risk indicator, and optional wind/pressure hazard indicators.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Urban features: thermal stress index, outdoor comfort score, and heat-island potential.</a:t>
            </a:r>
          </a:p>
        </p:txBody>
      </p:sp>
    </p:spTree>
    <p:extLst>
      <p:ext uri="{BB962C8B-B14F-4D97-AF65-F5344CB8AC3E}">
        <p14:creationId xmlns:p14="http://schemas.microsoft.com/office/powerpoint/2010/main" val="1811478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96062741-B5E5-4FE5-B747-34D66C19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2828"/>
                </a:solidFill>
              </a:defRPr>
            </a:pPr>
            <a:r>
              <a:rPr sz="1350" b="1">
                <a:solidFill>
                  <a:srgbClr val="D62828"/>
                </a:solidFill>
              </a:rPr>
              <a:t>Temporal Aggregation and Climate Normals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0EA173-EF24-475A-A1FC-863E4DE3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1506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213E"/>
                </a:solidFill>
              </a:defRPr>
            </a:pPr>
            <a:r>
              <a:rPr sz="3750" b="1">
                <a:solidFill>
                  <a:srgbClr val="16213E"/>
                </a:solidFill>
              </a:rPr>
              <a:t>How daily weather becomes a long-term climate signature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DED04E8-7C0B-41CD-BAED-1CD6D94D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4" name="levels-head">
            <a:extLst xmlns:a="http://schemas.openxmlformats.org/drawingml/2006/main">
              <a:ext uri="{FF2B5EF4-FFF2-40B4-BE49-F238E27FC236}">
                <a16:creationId xmlns:a16="http://schemas.microsoft.com/office/drawing/2014/main" id="{B691FC92-9D88-4E16-A8A4-71EFDEB4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Aggregation levels</a:t>
            </a:r>
          </a:p>
        </p:txBody>
      </p:sp>
      <p:sp>
        <p:nvSpPr>
          <p:cNvPr id="5" name="levels-bullets">
            <a:extLst xmlns:a="http://schemas.openxmlformats.org/drawingml/2006/main">
              <a:ext uri="{FF2B5EF4-FFF2-40B4-BE49-F238E27FC236}">
                <a16:creationId xmlns:a16="http://schemas.microsoft.com/office/drawing/2014/main" id="{B884D0BF-D63F-4415-BD59-CBC0773D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81153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Monthly aggregation grouped data by latitude, longitude, year, and month.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Seasonal aggregation used Winter, Pre-Monsoon, Monsoon, and Post-Monsoon.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Yearly aggregation summarized each location’s annual climatic behavior.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Climate normals averaged long-term conditions for each land point and became the main clustering dataset.</a:t>
            </a:r>
          </a:p>
        </p:txBody>
      </p:sp>
      <p:sp>
        <p:nvSpPr>
          <p:cNvPr id="6" name="enrich-head">
            <a:extLst xmlns:a="http://schemas.openxmlformats.org/drawingml/2006/main">
              <a:ext uri="{FF2B5EF4-FFF2-40B4-BE49-F238E27FC236}">
                <a16:creationId xmlns:a16="http://schemas.microsoft.com/office/drawing/2014/main" id="{16528AA0-D27A-46A7-A257-396558E7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Climate-normal enrichment</a:t>
            </a:r>
          </a:p>
        </p:txBody>
      </p:sp>
      <p:sp>
        <p:nvSpPr>
          <p:cNvPr id="7" name="enrich-bullets">
            <a:extLst xmlns:a="http://schemas.openxmlformats.org/drawingml/2006/main">
              <a:ext uri="{FF2B5EF4-FFF2-40B4-BE49-F238E27FC236}">
                <a16:creationId xmlns:a16="http://schemas.microsoft.com/office/drawing/2014/main" id="{2A7CC864-2A51-4FA2-B1CE-FCF6E806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24200"/>
            <a:ext cx="811530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Interannual variability was added for temperature, rainfall, wind, and cloud cover.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Season-specific signatures were created for temperature, rainfall, humidity, wind, cloud, and solar variables.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Monsoon-sensitive features were added, including monsoon rainfall share, pre-monsoon heat contrast, seasonal humidity contrast, and rainfall seasonality.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These enrichments made the clustering much more meaningful for Indian climate structure.</a:t>
            </a:r>
          </a:p>
        </p:txBody>
      </p:sp>
    </p:spTree>
    <p:extLst>
      <p:ext uri="{BB962C8B-B14F-4D97-AF65-F5344CB8AC3E}">
        <p14:creationId xmlns:p14="http://schemas.microsoft.com/office/powerpoint/2010/main" val="875565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65C8E39D-BB31-445F-BED1-0CC4AF0C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2828"/>
                </a:solidFill>
              </a:defRPr>
            </a:pPr>
            <a:r>
              <a:rPr sz="1350" b="1">
                <a:solidFill>
                  <a:srgbClr val="D62828"/>
                </a:solidFill>
              </a:rPr>
              <a:t>Scaling, PCA, and Clustering Model Selection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881765-C336-4A83-8C47-552B0E5E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8686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213E"/>
                </a:solidFill>
              </a:defRPr>
            </a:pPr>
            <a:r>
              <a:rPr sz="3750" b="1">
                <a:solidFill>
                  <a:srgbClr val="16213E"/>
                </a:solidFill>
              </a:rPr>
              <a:t>How the final production model was chosen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721C8AF-55D7-4732-B5C1-8E3757B4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90886B1E-65E5-4D51-8505-5803625B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8115300" cy="693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All numeric climate-normal features were standardized before clustering.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PCA reduced the feature space while preserving roughly 95% or more of the explained variance.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The project compared K-Means, Hierarchical (Ward and Average), DBSCAN, HDBSCAN, and GMM.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The evaluation considered silhouette score, Calinski-Harabasz, Davies-Bouldin, cluster balance, cluster share, and noise behavior.</a:t>
            </a:r>
          </a:p>
        </p:txBody>
      </p:sp>
      <p:sp>
        <p:nvSpPr>
          <p:cNvPr id="5" name="why-head">
            <a:extLst xmlns:a="http://schemas.openxmlformats.org/drawingml/2006/main">
              <a:ext uri="{FF2B5EF4-FFF2-40B4-BE49-F238E27FC236}">
                <a16:creationId xmlns:a16="http://schemas.microsoft.com/office/drawing/2014/main" id="{84DC952D-D841-4C0C-B224-38DFF5D8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Why GMM(k=8) was selected</a:t>
            </a:r>
          </a:p>
        </p:txBody>
      </p:sp>
      <p:sp>
        <p:nvSpPr>
          <p:cNvPr id="6" name="why-bullets">
            <a:extLst xmlns:a="http://schemas.openxmlformats.org/drawingml/2006/main">
              <a:ext uri="{FF2B5EF4-FFF2-40B4-BE49-F238E27FC236}">
                <a16:creationId xmlns:a16="http://schemas.microsoft.com/office/drawing/2014/main" id="{B299F26C-3971-40EA-9ACC-4823B05F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24200"/>
            <a:ext cx="81153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HDBSCAN achieved a high silhouette score but treated too many points as noise for a full India-wide zoning model.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Lower-cluster solutions were too coarse and merged climatically distinct regions.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GMM handled gradual transitions better through probabilistic clustering.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The final GMM(k=8) model gave full coverage and geographically meaningful climate regions.</a:t>
            </a:r>
          </a:p>
        </p:txBody>
      </p:sp>
    </p:spTree>
    <p:extLst>
      <p:ext uri="{BB962C8B-B14F-4D97-AF65-F5344CB8AC3E}">
        <p14:creationId xmlns:p14="http://schemas.microsoft.com/office/powerpoint/2010/main" val="1723115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CEA9B7C5-5F09-48A2-9DDB-837DF03F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2828"/>
                </a:solidFill>
              </a:defRPr>
            </a:pPr>
            <a:r>
              <a:rPr sz="1350" b="1">
                <a:solidFill>
                  <a:srgbClr val="D62828"/>
                </a:solidFill>
              </a:rPr>
              <a:t>Final Climate Regions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99A9FD-6049-4D7F-9519-1DE45A38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12585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213E"/>
                </a:solidFill>
              </a:defRPr>
            </a:pPr>
            <a:r>
              <a:rPr sz="3750" b="1">
                <a:solidFill>
                  <a:srgbClr val="16213E"/>
                </a:solidFill>
              </a:rPr>
              <a:t>Eight-region climate map produced by the selected GMM model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702DC97-C74C-49DC-9BF0-A355220A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graphicFrame>
        <p:nvGraphicFramePr>
          <p:cNvPr id="4" name="cluster-count-chart"/>
          <p:cNvGraphicFramePr/>
          <p:nvPr/>
        </p:nvGraphicFramePr>
        <p:xfrm>
          <a:off xmlns:a="http://schemas.openxmlformats.org/drawingml/2006/main" x="838200" y="2682240"/>
          <a:ext xmlns:a="http://schemas.openxmlformats.org/drawingml/2006/main" cx="9906000" cy="666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2e28cc333541de"/>
          </a:graphicData>
        </a:graphic>
      </p:graphicFrame>
      <p:sp>
        <p:nvSpPr>
          <p:cNvPr id="5" name="regions-list">
            <a:extLst xmlns:a="http://schemas.openxmlformats.org/drawingml/2006/main">
              <a:ext uri="{FF2B5EF4-FFF2-40B4-BE49-F238E27FC236}">
                <a16:creationId xmlns:a16="http://schemas.microsoft.com/office/drawing/2014/main" id="{D682DF9B-FA00-4B9D-824B-247C5CDA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7467600" cy="693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Cluster 0 – East-Central Monsoon Corridor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Cluster 1 – Upper Himalayan Cold Pocket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Cluster 2 – Northwest Dry Plains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Cluster 3 – Northeast Humid Belt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Cluster 4 – Central Inland Plateau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Cluster 5 – Gangetic Alluvial Plains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Cluster 6 – Southern Peninsular Belt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Cluster 7 – Western Himalayan Highlands</a:t>
            </a:r>
          </a:p>
        </p:txBody>
      </p:sp>
    </p:spTree>
    <p:extLst>
      <p:ext uri="{BB962C8B-B14F-4D97-AF65-F5344CB8AC3E}">
        <p14:creationId xmlns:p14="http://schemas.microsoft.com/office/powerpoint/2010/main" val="917071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E5F9D480-BFCE-406E-B02B-A7D7B781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2828"/>
                </a:solidFill>
              </a:defRPr>
            </a:pPr>
            <a:r>
              <a:rPr sz="1350" b="1">
                <a:solidFill>
                  <a:srgbClr val="D62828"/>
                </a:solidFill>
              </a:rPr>
              <a:t>Dashboard and Prediction System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44467E-7996-487F-97D8-7DDBE7C3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306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213E"/>
                </a:solidFill>
              </a:defRPr>
            </a:pPr>
            <a:r>
              <a:rPr sz="3750" b="1">
                <a:solidFill>
                  <a:srgbClr val="16213E"/>
                </a:solidFill>
              </a:rPr>
              <a:t>How users explore the regions and predict any place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84CB598-13D8-4A58-AF42-10F8DB16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4" name="sections-head">
            <a:extLst xmlns:a="http://schemas.openxmlformats.org/drawingml/2006/main">
              <a:ext uri="{FF2B5EF4-FFF2-40B4-BE49-F238E27FC236}">
                <a16:creationId xmlns:a16="http://schemas.microsoft.com/office/drawing/2014/main" id="{E31848F9-E1C8-4C15-9616-6AF9BC2C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Dashboard sections</a:t>
            </a:r>
          </a:p>
        </p:txBody>
      </p:sp>
      <p:sp>
        <p:nvSpPr>
          <p:cNvPr id="5" name="sections-bullets">
            <a:extLst xmlns:a="http://schemas.openxmlformats.org/drawingml/2006/main">
              <a:ext uri="{FF2B5EF4-FFF2-40B4-BE49-F238E27FC236}">
                <a16:creationId xmlns:a16="http://schemas.microsoft.com/office/drawing/2014/main" id="{47DE4CD5-EE60-4C87-AD3B-42A5C4E6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81153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Overview: metric cards, India cluster map, training ranking, cluster point graph, and enhanced charts.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Cluster Explorer: selected cluster map, regional summary, radar chart, correlation heatmap, and sample points.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Domain Insights: Agriculture, Energy, Disaster, and Urban interpretation tabs.</a:t>
            </a:r>
          </a:p>
        </p:txBody>
      </p:sp>
      <p:sp>
        <p:nvSpPr>
          <p:cNvPr id="6" name="vis-head">
            <a:extLst xmlns:a="http://schemas.openxmlformats.org/drawingml/2006/main">
              <a:ext uri="{FF2B5EF4-FFF2-40B4-BE49-F238E27FC236}">
                <a16:creationId xmlns:a16="http://schemas.microsoft.com/office/drawing/2014/main" id="{93A04A93-5DB9-4ADB-B93D-444D2515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Main visualization types</a:t>
            </a:r>
          </a:p>
        </p:txBody>
      </p:sp>
      <p:sp>
        <p:nvSpPr>
          <p:cNvPr id="7" name="vis-text">
            <a:extLst xmlns:a="http://schemas.openxmlformats.org/drawingml/2006/main">
              <a:ext uri="{FF2B5EF4-FFF2-40B4-BE49-F238E27FC236}">
                <a16:creationId xmlns:a16="http://schemas.microsoft.com/office/drawing/2014/main" id="{6B697A9F-12F5-4D02-96A3-D10B8441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6915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213E"/>
                </a:solidFill>
              </a:defRPr>
            </a:pPr>
            <a:r>
              <a:rPr sz="1650">
                <a:solidFill>
                  <a:srgbClr val="16213E"/>
                </a:solidFill>
              </a:rPr>
              <a:t>India cluster map, PCA point graph, pie chart, heatmap, box plots, parallel coordinates, radar chart, correlation matrix, and geographic coverage histograms.</a:t>
            </a:r>
          </a:p>
        </p:txBody>
      </p:sp>
      <p:sp>
        <p:nvSpPr>
          <p:cNvPr id="8" name="pred-head">
            <a:extLst xmlns:a="http://schemas.openxmlformats.org/drawingml/2006/main">
              <a:ext uri="{FF2B5EF4-FFF2-40B4-BE49-F238E27FC236}">
                <a16:creationId xmlns:a16="http://schemas.microsoft.com/office/drawing/2014/main" id="{37857C8C-4BE1-4A66-AF4C-C948AF29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6E8C"/>
                </a:solidFill>
              </a:defRPr>
            </a:pPr>
            <a:r>
              <a:rPr sz="1950" b="1">
                <a:solidFill>
                  <a:srgbClr val="1F6E8C"/>
                </a:solidFill>
              </a:rPr>
              <a:t>Place-based prediction workflow</a:t>
            </a:r>
          </a:p>
        </p:txBody>
      </p:sp>
      <p:sp>
        <p:nvSpPr>
          <p:cNvPr id="9" name="pred-bullets">
            <a:extLst xmlns:a="http://schemas.openxmlformats.org/drawingml/2006/main">
              <a:ext uri="{FF2B5EF4-FFF2-40B4-BE49-F238E27FC236}">
                <a16:creationId xmlns:a16="http://schemas.microsoft.com/office/drawing/2014/main" id="{C38F6E53-30BE-4300-B2A5-5B2C7E25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81153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User enters a place name.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The place is geocoded to latitude and longitude.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NASA POWER history is fetched for the exact location.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The same cleaning and feature generation pipeline is applied.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Climate normals are computed and projected into the trained PCA space.</a:t>
            </a:r>
          </a:p>
          <a:p xmlns:a="http://schemas.openxmlformats.org/drawingml/2006/main">
            <a:pPr>
              <a:defRPr sz="1725">
                <a:solidFill>
                  <a:srgbClr val="16213E"/>
                </a:solidFill>
              </a:defRPr>
            </a:pPr>
            <a:r>
              <a:rPr sz="1725">
                <a:solidFill>
                  <a:srgbClr val="16213E"/>
                </a:solidFill>
              </a:rPr>
              <a:t>• The trained cluster model assigns the place to a learned climate region.</a:t>
            </a:r>
          </a:p>
        </p:txBody>
      </p:sp>
    </p:spTree>
    <p:extLst>
      <p:ext uri="{BB962C8B-B14F-4D97-AF65-F5344CB8AC3E}">
        <p14:creationId xmlns:p14="http://schemas.microsoft.com/office/powerpoint/2010/main" val="10602619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54316088-2C5B-48DE-91EC-EAEE48EF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2828"/>
                </a:solidFill>
              </a:defRPr>
            </a:pPr>
            <a:r>
              <a:rPr sz="1350" b="1">
                <a:solidFill>
                  <a:srgbClr val="D62828"/>
                </a:solidFill>
              </a:rPr>
              <a:t>Conclusion and Project Outcome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46954D-7B6D-47DD-AA5F-A8D2AB0D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6400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213E"/>
                </a:solidFill>
              </a:defRPr>
            </a:pPr>
            <a:r>
              <a:rPr sz="3750" b="1">
                <a:solidFill>
                  <a:srgbClr val="16213E"/>
                </a:solidFill>
              </a:rPr>
              <a:t>What this project finally delivers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08E331C-0074-4213-843A-E2F74684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73A98524-BADD-4712-BCAF-C9953466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8115300" cy="750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An India-wide, data-driven climate regionalization framework built from long-term NASA POWER weather data.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A full pipeline covering data collection, cleaning, feature engineering, climate-normal generation, PCA, clustering, interpretation, and visualization.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A final 8-region climate map selected from multiple unsupervised learning models.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A place-based prediction system that assigns new queried locations to the learned climate regions.</a:t>
            </a:r>
          </a:p>
        </p:txBody>
      </p:sp>
      <p:sp>
        <p:nvSpPr>
          <p:cNvPr id="5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76366F5F-B6BC-499A-BA66-622AF7EE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8115300" cy="750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Practical value across agriculture, energy, disaster risk, and urban planning.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A working Streamlit dashboard for exploration and explanation.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A strong foundation for future validation, uncertainty mapping, elevation/coastal enrichment, and temporal stability studies.</a:t>
            </a:r>
          </a:p>
          <a:p xmlns:a="http://schemas.openxmlformats.org/drawingml/2006/main">
            <a:pPr>
              <a:defRPr sz="1800">
                <a:solidFill>
                  <a:srgbClr val="16213E"/>
                </a:solidFill>
              </a:defRPr>
            </a:pPr>
            <a:r>
              <a:rPr sz="1800">
                <a:solidFill>
                  <a:srgbClr val="16213E"/>
                </a:solidFill>
              </a:rPr>
              <a:t>• Overall, the project moves from raw weather observations to an interpretable national climate intelligence system.</a:t>
            </a:r>
          </a:p>
        </p:txBody>
      </p:sp>
    </p:spTree>
    <p:extLst>
      <p:ext uri="{BB962C8B-B14F-4D97-AF65-F5344CB8AC3E}">
        <p14:creationId xmlns:p14="http://schemas.microsoft.com/office/powerpoint/2010/main" val="2047162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2026-05-15T04:30:31.9720000Z</dcterms:created>
  <dcterms:modified xsi:type="dcterms:W3CDTF">2026-05-15T04:30:31.9720000Z</dcterms:modified>
</coreProperties>
</file>